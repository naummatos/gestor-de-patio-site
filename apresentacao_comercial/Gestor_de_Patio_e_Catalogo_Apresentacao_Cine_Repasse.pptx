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140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097280"/>
            <a:ext cx="4663440" cy="4663440"/>
          </a:xfrm>
          <a:prstGeom prst="ellipse">
            <a:avLst/>
          </a:prstGeom>
          <a:solidFill>
            <a:srgbClr val="22C55E">
              <a:alpha val="23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0"/>
            <a:ext cx="5129784" cy="6793992"/>
          </a:xfrm>
          <a:prstGeom prst="rect">
            <a:avLst/>
          </a:prstGeom>
          <a:solidFill>
            <a:srgbClr val="111820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pic>
        <p:nvPicPr>
          <p:cNvPr id="4" name="Image 0" descr="/home/naum/gestor-de-patio-site/material_grafico/remotion/public/source/demo-sedan-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0"/>
            <a:ext cx="5129784" cy="67939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59168" y="0"/>
            <a:ext cx="5129784" cy="6793992"/>
          </a:xfrm>
          <a:prstGeom prst="rect">
            <a:avLst/>
          </a:prstGeom>
          <a:solidFill>
            <a:srgbClr val="0A0F14">
              <a:alpha val="44000"/>
            </a:srgbClr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66560" y="0"/>
            <a:ext cx="2194560" cy="6793992"/>
          </a:xfrm>
          <a:prstGeom prst="rect">
            <a:avLst/>
          </a:prstGeom>
          <a:solidFill>
            <a:srgbClr val="0A0F14">
              <a:alpha val="82000"/>
            </a:srgbClr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pic>
        <p:nvPicPr>
          <p:cNvPr id="7" name="Image 1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88" y="347472"/>
            <a:ext cx="393192" cy="3931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35661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960120" y="55778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10" name="Shape 6"/>
          <p:cNvSpPr/>
          <p:nvPr/>
        </p:nvSpPr>
        <p:spPr>
          <a:xfrm>
            <a:off x="594360" y="1389888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" y="1399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COMERCIAL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94360" y="1865376"/>
            <a:ext cx="6903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 estoque trabalha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 quando a loja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está respondendo.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594360" y="4133088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do pátio, catálogo vivo e publicação nos grupos de repasse — conectados ao mesmo estoque.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94360" y="56692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da equipe  •  site da loja  •  atendimento ao público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5" name="Shape 2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NÃO É FALTA DE CANAL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26187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venda trava quando a informação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acompanha o carro.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157984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veículo entra no pátio, mas o cadastro, o atendimento e o anúncio continuam dependendo de tarefas separadas.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2926080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0392" y="3182112"/>
            <a:ext cx="530352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319125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30" dirty="0"/>
          </a:p>
        </p:txBody>
      </p:sp>
      <p:sp>
        <p:nvSpPr>
          <p:cNvPr id="12" name="Text 9"/>
          <p:cNvSpPr/>
          <p:nvPr/>
        </p:nvSpPr>
        <p:spPr>
          <a:xfrm>
            <a:off x="850392" y="3712464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Estoque espalhado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0392" y="4315968"/>
            <a:ext cx="30083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Preço, fotos, negociação e disponibilidade ficam em conversas, planilhas e sistemas diferentes.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34256" y="2926080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90288" y="3182112"/>
            <a:ext cx="530352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0288" y="319125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4590288" y="3712464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Atendimento lento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90288" y="4315968"/>
            <a:ext cx="30083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pergunta à noite ou no fim de semana espera. Quando a resposta chega, o interesse pode ter esfriado.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074152" y="2926080"/>
            <a:ext cx="3520440" cy="2423160"/>
          </a:xfrm>
          <a:prstGeom prst="roundRect">
            <a:avLst>
              <a:gd name="adj" fmla="val 4528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30184" y="3182112"/>
            <a:ext cx="530352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30184" y="319125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30" dirty="0"/>
          </a:p>
        </p:txBody>
      </p:sp>
      <p:sp>
        <p:nvSpPr>
          <p:cNvPr id="22" name="Text 19"/>
          <p:cNvSpPr/>
          <p:nvPr/>
        </p:nvSpPr>
        <p:spPr>
          <a:xfrm>
            <a:off x="8330184" y="3712464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Anúncio manual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330184" y="4315968"/>
            <a:ext cx="30083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carro exige texto, arte, vídeo e republicação. Repasse sem divulgação vira custo parado.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94360" y="568756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mesmo carro precisa ser explicado várias vezes — e ainda pode aparecer com informação diferente em cada canal.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1188720"/>
            <a:ext cx="3657600" cy="3657600"/>
          </a:xfrm>
          <a:prstGeom prst="ellipse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3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6" name="Shape 3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PROPOSTA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261872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estoque.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 frentes de IA.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94360" y="19933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assistente tem uma função clara, mas todos trabalham com a mesma informação.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79392" y="2788920"/>
            <a:ext cx="3639312" cy="1298448"/>
          </a:xfrm>
          <a:prstGeom prst="roundRect">
            <a:avLst>
              <a:gd name="adj" fmla="val 8451"/>
            </a:avLst>
          </a:prstGeom>
          <a:solidFill>
            <a:srgbClr val="102019">
              <a:alpha val="96000"/>
            </a:srgbClr>
          </a:solidFill>
          <a:ln w="12700">
            <a:solidFill>
              <a:srgbClr val="22C55E">
                <a:alpha val="82000"/>
              </a:srgbClr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76672" y="2999232"/>
            <a:ext cx="1444752" cy="310896"/>
          </a:xfrm>
          <a:prstGeom prst="roundRect">
            <a:avLst>
              <a:gd name="adj" fmla="val 35294"/>
            </a:avLst>
          </a:prstGeom>
          <a:solidFill>
            <a:srgbClr val="84FF5A"/>
          </a:solidFill>
          <a:ln w="10160">
            <a:solidFill>
              <a:srgbClr val="84FF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76672" y="300837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ÚNICA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599432" y="345643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ESTOQUE DO PÁTIO</a:t>
            </a:r>
            <a:endParaRPr lang="en-US" sz="1900" dirty="0"/>
          </a:p>
        </p:txBody>
      </p:sp>
      <p:sp>
        <p:nvSpPr>
          <p:cNvPr id="34" name="Conector estoque"/>
          <p:cNvSpPr/>
          <p:nvPr/>
        </p:nvSpPr>
        <p:spPr>
          <a:xfrm>
            <a:off x="6099048" y="4087368"/>
            <a:ext cx="0" cy="312632"/>
          </a:xfrm>
          <a:prstGeom prst="line">
            <a:avLst/>
          </a:prstGeom>
          <a:noFill/>
          <a:ln w="17780">
            <a:solidFill>
              <a:srgbClr val="22C55E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Conector horizontal"/>
          <p:cNvSpPr/>
          <p:nvPr/>
        </p:nvSpPr>
        <p:spPr>
          <a:xfrm>
            <a:off x="2354580" y="4400000"/>
            <a:ext cx="7479792" cy="0"/>
          </a:xfrm>
          <a:prstGeom prst="line">
            <a:avLst/>
          </a:prstGeom>
          <a:noFill/>
          <a:ln w="17780">
            <a:solidFill>
              <a:srgbClr val="22C55E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Conector Gestor de Pátio"/>
          <p:cNvSpPr/>
          <p:nvPr/>
        </p:nvSpPr>
        <p:spPr>
          <a:xfrm>
            <a:off x="2354580" y="4400000"/>
            <a:ext cx="0" cy="226864"/>
          </a:xfrm>
          <a:prstGeom prst="line">
            <a:avLst/>
          </a:prstGeom>
          <a:noFill/>
          <a:ln w="17780">
            <a:solidFill>
              <a:srgbClr val="22C55E">
                <a:alpha val="7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7" name="Conector Catálogo Vivo"/>
          <p:cNvSpPr/>
          <p:nvPr/>
        </p:nvSpPr>
        <p:spPr>
          <a:xfrm>
            <a:off x="6094476" y="4400000"/>
            <a:ext cx="0" cy="226864"/>
          </a:xfrm>
          <a:prstGeom prst="line">
            <a:avLst/>
          </a:prstGeom>
          <a:noFill/>
          <a:ln w="17780">
            <a:solidFill>
              <a:srgbClr val="22C55E">
                <a:alpha val="7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8" name="Conector Publicações"/>
          <p:cNvSpPr/>
          <p:nvPr/>
        </p:nvSpPr>
        <p:spPr>
          <a:xfrm>
            <a:off x="9834372" y="4400000"/>
            <a:ext cx="0" cy="226864"/>
          </a:xfrm>
          <a:prstGeom prst="line">
            <a:avLst/>
          </a:prstGeom>
          <a:noFill/>
          <a:ln w="17780">
            <a:solidFill>
              <a:srgbClr val="22C55E">
                <a:alpha val="7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94360" y="4626864"/>
            <a:ext cx="3520440" cy="1261872"/>
          </a:xfrm>
          <a:prstGeom prst="roundRect">
            <a:avLst>
              <a:gd name="adj" fmla="val 869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3816" y="4828032"/>
            <a:ext cx="1755648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" y="483717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INTERNO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813816" y="5239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13816" y="5541264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Cadastro, fotos, preço, FIPE, negociação, venda e relatórios.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4334256" y="4626864"/>
            <a:ext cx="3520440" cy="1261872"/>
          </a:xfrm>
          <a:prstGeom prst="roundRect">
            <a:avLst>
              <a:gd name="adj" fmla="val 869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53712" y="4828032"/>
            <a:ext cx="1755648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53712" y="483717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ATENDIMENTO PÚBLICO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4553712" y="5239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Vivo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53712" y="5541264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sincronizado e conversa inteligente no WhatsApp, 24 horas.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8074152" y="4626864"/>
            <a:ext cx="3520440" cy="1261872"/>
          </a:xfrm>
          <a:prstGeom prst="roundRect">
            <a:avLst>
              <a:gd name="adj" fmla="val 869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293608" y="4828032"/>
            <a:ext cx="1755648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93608" y="483717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GRUPOS DE REPASSE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8293608" y="5239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Publicações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293608" y="5541264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Anúncios recorrentes e respostas aos interessados dentro dos grupos.</a:t>
            </a:r>
            <a:endParaRPr lang="en-US" sz="870" dirty="0"/>
          </a:p>
        </p:txBody>
      </p:sp>
      <p:sp>
        <p:nvSpPr>
          <p:cNvPr id="32" name="Text 29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5" name="Shape 2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 DA OPERAÇÃO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261872"/>
            <a:ext cx="6446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equipe trabalha no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que já usa.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267712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WhatsApp vira a entrada para manter o estoque organizado sem depender de outro sistema ou planilhas.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536119" y="576072"/>
            <a:ext cx="4352293" cy="5695332"/>
          </a:xfrm>
          <a:prstGeom prst="roundRect">
            <a:avLst>
              <a:gd name="adj" fmla="val 3636"/>
            </a:avLst>
          </a:prstGeom>
          <a:solidFill>
            <a:srgbClr val="080D12">
              <a:alpha val="96000"/>
            </a:srgbClr>
          </a:solidFill>
          <a:ln w="15240">
            <a:solidFill>
              <a:srgbClr val="22C55E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0" name="Image 1" descr="/home/naum/gestor-de-patio-site/material_grafico/remotion/output/preview-vendedor.png"/>
          <p:cNvPicPr>
            <a:picLocks noChangeAspect="1"/>
          </p:cNvPicPr>
          <p:nvPr/>
        </p:nvPicPr>
        <p:blipFill>
          <a:blip r:embed="rId4"/>
          <a:srcRect l="4210" r="6309" b="38562"/>
          <a:stretch>
            <a:fillRect/>
          </a:stretch>
        </p:blipFill>
        <p:spPr>
          <a:xfrm>
            <a:off x="7631762" y="819643"/>
            <a:ext cx="4065658" cy="496268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2648" y="3090672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2648" y="30998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1298448" y="313584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Cadastre pelo básico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121898" y="31810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Placa, preço, quilometragem, fotos e vídeo enviados no grupo.</a:t>
            </a:r>
            <a:endParaRPr lang="en-US" sz="1020" dirty="0"/>
          </a:p>
        </p:txBody>
      </p:sp>
      <p:sp>
        <p:nvSpPr>
          <p:cNvPr id="15" name="Shape 11"/>
          <p:cNvSpPr/>
          <p:nvPr/>
        </p:nvSpPr>
        <p:spPr>
          <a:xfrm>
            <a:off x="612648" y="3813048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2648" y="38221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1298448" y="3867275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cadastro é enriquecido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121898" y="384907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do veículo, FIPE, características e informações do vídeo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entram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estoque.</a:t>
            </a:r>
            <a:endParaRPr lang="en-US" sz="1020" dirty="0"/>
          </a:p>
        </p:txBody>
      </p:sp>
      <p:sp>
        <p:nvSpPr>
          <p:cNvPr id="19" name="Shape 15"/>
          <p:cNvSpPr/>
          <p:nvPr/>
        </p:nvSpPr>
        <p:spPr>
          <a:xfrm>
            <a:off x="612648" y="453542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2648" y="45445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1298448" y="458059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Atualize pela conversa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121898" y="46257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Registre negociação, sinal, venda, correções e novas mídias pela placa.</a:t>
            </a:r>
            <a:endParaRPr lang="en-US" sz="1020" dirty="0"/>
          </a:p>
        </p:txBody>
      </p:sp>
      <p:sp>
        <p:nvSpPr>
          <p:cNvPr id="23" name="Shape 19"/>
          <p:cNvSpPr/>
          <p:nvPr/>
        </p:nvSpPr>
        <p:spPr>
          <a:xfrm>
            <a:off x="612648" y="5257800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2648" y="526694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1298448" y="530297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Pergunte ao pátio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3121898" y="527572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Disponibilidade,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detalhes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veículos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pátio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potencial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</a:p>
          <a:p>
            <a:pPr marL="0" indent="0">
              <a:buNone/>
            </a:pPr>
            <a:r>
              <a:rPr lang="en-US" sz="1020" dirty="0" err="1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vendas</a:t>
            </a:r>
            <a:r>
              <a:rPr lang="en-US" sz="10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período e desempenho da equipe.</a:t>
            </a:r>
            <a:endParaRPr lang="en-US" sz="1020" dirty="0"/>
          </a:p>
        </p:txBody>
      </p:sp>
      <p:sp>
        <p:nvSpPr>
          <p:cNvPr id="27" name="Shape 23"/>
          <p:cNvSpPr/>
          <p:nvPr/>
        </p:nvSpPr>
        <p:spPr>
          <a:xfrm>
            <a:off x="603504" y="5962976"/>
            <a:ext cx="2414016" cy="310896"/>
          </a:xfrm>
          <a:prstGeom prst="roundRect">
            <a:avLst>
              <a:gd name="adj" fmla="val 35294"/>
            </a:avLst>
          </a:prstGeom>
          <a:solidFill>
            <a:srgbClr val="84FF5A"/>
          </a:solidFill>
          <a:ln w="10160">
            <a:solidFill>
              <a:srgbClr val="84FF5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03504" y="597212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TROCAR A ROTINA DA EQUIPE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3840480"/>
            <a:ext cx="3840480" cy="3840480"/>
          </a:xfrm>
          <a:prstGeom prst="ellipse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3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6" name="Shape 3"/>
          <p:cNvSpPr/>
          <p:nvPr/>
        </p:nvSpPr>
        <p:spPr>
          <a:xfrm>
            <a:off x="274320" y="703632"/>
            <a:ext cx="3840480" cy="5488935"/>
          </a:xfrm>
          <a:prstGeom prst="roundRect">
            <a:avLst>
              <a:gd name="adj" fmla="val 3593"/>
            </a:avLst>
          </a:prstGeom>
          <a:solidFill>
            <a:srgbClr val="080D12">
              <a:alpha val="96000"/>
            </a:srgbClr>
          </a:solidFill>
          <a:ln w="15240">
            <a:solidFill>
              <a:srgbClr val="22C55E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7" name="Image 1" descr="/home/naum/gestor-de-patio-site/material_grafico/remotion/output/preview-cliente.png"/>
          <p:cNvPicPr>
            <a:picLocks noChangeAspect="1"/>
          </p:cNvPicPr>
          <p:nvPr/>
        </p:nvPicPr>
        <p:blipFill>
          <a:blip r:embed="rId4"/>
          <a:srcRect r="3247"/>
          <a:stretch>
            <a:fillRect/>
          </a:stretch>
        </p:blipFill>
        <p:spPr>
          <a:xfrm>
            <a:off x="324566" y="1032817"/>
            <a:ext cx="3725954" cy="449287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15968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26864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ATENDIMENTO PÚBLICO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315968" y="1298448"/>
            <a:ext cx="6903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cliente pergunta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jeito dele.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4315968" y="2267712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Catálogo Vivo entende modelo, ano, preço, cor, quilometragem e contexto da conversa para apresentar o estoque disponível.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15968" y="2921598"/>
            <a:ext cx="7059168" cy="2779776"/>
          </a:xfrm>
          <a:prstGeom prst="roundRect">
            <a:avLst>
              <a:gd name="adj" fmla="val 4800"/>
            </a:avLst>
          </a:prstGeom>
          <a:solidFill>
            <a:srgbClr val="0F1A24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90288" y="3232494"/>
            <a:ext cx="2944368" cy="512064"/>
          </a:xfrm>
          <a:prstGeom prst="roundRect">
            <a:avLst>
              <a:gd name="adj" fmla="val 14286"/>
            </a:avLst>
          </a:prstGeom>
          <a:solidFill>
            <a:srgbClr val="0B5532"/>
          </a:solidFill>
          <a:ln w="12700">
            <a:solidFill>
              <a:srgbClr val="137A49">
                <a:alpha val="6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36592" y="330564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“Tem outro Onix mais barato?”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891272" y="3598254"/>
            <a:ext cx="3127248" cy="585216"/>
          </a:xfrm>
          <a:prstGeom prst="roundRect">
            <a:avLst>
              <a:gd name="adj" fmla="val 12500"/>
            </a:avLst>
          </a:prstGeom>
          <a:solidFill>
            <a:srgbClr val="1A252D"/>
          </a:solidFill>
          <a:ln w="12700">
            <a:solidFill>
              <a:srgbClr val="243342">
                <a:alpha val="6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037576" y="367140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“Tenho duas opções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baratas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GNV e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outra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qual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conhecer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?”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800600" y="4073742"/>
            <a:ext cx="2724912" cy="530352"/>
          </a:xfrm>
          <a:prstGeom prst="roundRect">
            <a:avLst>
              <a:gd name="adj" fmla="val 13793"/>
            </a:avLst>
          </a:prstGeom>
          <a:solidFill>
            <a:srgbClr val="0B5532"/>
          </a:solidFill>
          <a:ln w="12700">
            <a:solidFill>
              <a:srgbClr val="137A49">
                <a:alpha val="6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46904" y="4146894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“Ele tem GNV? Já foi vendido?”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631177" y="5408766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Disponibilidade  •  fotos  •  vídeo  •  detalhes  •  formas de pagamento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238244" y="5815584"/>
            <a:ext cx="7059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informa e orienta. Negociação, troca, reserva e fechamento continuam com o vendedor.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19164700-8CAD-2A10-BA90-BEE609A5774F}"/>
              </a:ext>
            </a:extLst>
          </p:cNvPr>
          <p:cNvSpPr/>
          <p:nvPr/>
        </p:nvSpPr>
        <p:spPr>
          <a:xfrm>
            <a:off x="7897368" y="4649814"/>
            <a:ext cx="3127248" cy="585216"/>
          </a:xfrm>
          <a:prstGeom prst="roundRect">
            <a:avLst>
              <a:gd name="adj" fmla="val 12500"/>
            </a:avLst>
          </a:prstGeom>
          <a:solidFill>
            <a:srgbClr val="1A252D"/>
          </a:solidFill>
          <a:ln w="12700">
            <a:solidFill>
              <a:srgbClr val="243342">
                <a:alpha val="60000"/>
              </a:srgbClr>
            </a:solidFill>
            <a:prstDash val="solid"/>
          </a:ln>
        </p:spPr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B6C62631-FDF8-7326-0AA9-CD31A78B9B72}"/>
              </a:ext>
            </a:extLst>
          </p:cNvPr>
          <p:cNvSpPr/>
          <p:nvPr/>
        </p:nvSpPr>
        <p:spPr>
          <a:xfrm>
            <a:off x="8043672" y="472296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“O Onix 2022 com GNV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ainda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disponível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patio. Ele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97mil km e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anunciado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R$62.990. Posso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enviar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fotos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 </a:t>
            </a:r>
            <a:r>
              <a:rPr lang="en-US" sz="950" dirty="0" err="1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quiser</a:t>
            </a: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5" name="Shape 2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REPASSE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261872"/>
            <a:ext cx="10652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carro entra no pátio.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grupos ficam sabendo.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139696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assistente publica as novidades e mantém o estoque circulando nos grupos de repasse em que estiver presente.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2743200"/>
            <a:ext cx="3794760" cy="2999232"/>
          </a:xfrm>
          <a:prstGeom prst="roundRect">
            <a:avLst>
              <a:gd name="adj" fmla="val 3659"/>
            </a:avLst>
          </a:prstGeom>
          <a:solidFill>
            <a:srgbClr val="0D171F">
              <a:alpha val="96000"/>
            </a:srgbClr>
          </a:solidFill>
          <a:ln w="12700">
            <a:solidFill>
              <a:srgbClr val="22C55E">
                <a:alpha val="65000"/>
              </a:srgbClr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2688" y="2980944"/>
            <a:ext cx="1755648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299008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PUBLICAÇÃO AUTOMÁTICA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932688" y="3456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🚘  NOVO NO PÁTIO</a:t>
            </a:r>
            <a:endParaRPr lang="en-US" sz="1250" dirty="0"/>
          </a:p>
        </p:txBody>
      </p:sp>
      <p:pic>
        <p:nvPicPr>
          <p:cNvPr id="13" name="Image 1" descr="/home/naum/gestor-de-patio-site/material_grafico/remotion/public/source/demo-sedan-r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" y="3776472"/>
            <a:ext cx="1109472" cy="16642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86000" y="3785616"/>
            <a:ext cx="18470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Corolla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2016/2017  •  Flex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105.000 km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R$ 66.500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286000" y="5047488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Fotos, vídeo e contato da loja acompanham o anúncio.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5074920" y="2816352"/>
            <a:ext cx="2359152" cy="786384"/>
          </a:xfrm>
          <a:prstGeom prst="roundRect">
            <a:avLst>
              <a:gd name="adj" fmla="val 13953"/>
            </a:avLst>
          </a:prstGeom>
          <a:solidFill>
            <a:srgbClr val="151F2E">
              <a:alpha val="96000"/>
            </a:srgbClr>
          </a:solidFill>
          <a:ln w="12700">
            <a:solidFill>
              <a:srgbClr val="26334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03520" y="2999232"/>
            <a:ext cx="384048" cy="384048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52160" y="29443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repasse 01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5852160" y="320040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publicado</a:t>
            </a:r>
            <a:endParaRPr lang="en-US" sz="720" dirty="0"/>
          </a:p>
        </p:txBody>
      </p:sp>
      <p:sp>
        <p:nvSpPr>
          <p:cNvPr id="20" name="Shape 16"/>
          <p:cNvSpPr/>
          <p:nvPr/>
        </p:nvSpPr>
        <p:spPr>
          <a:xfrm>
            <a:off x="4453128" y="4242816"/>
            <a:ext cx="621792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5074920" y="3886200"/>
            <a:ext cx="2359152" cy="786384"/>
          </a:xfrm>
          <a:prstGeom prst="roundRect">
            <a:avLst>
              <a:gd name="adj" fmla="val 13953"/>
            </a:avLst>
          </a:prstGeom>
          <a:solidFill>
            <a:srgbClr val="151F2E">
              <a:alpha val="96000"/>
            </a:srgbClr>
          </a:solidFill>
          <a:ln w="12700">
            <a:solidFill>
              <a:srgbClr val="26334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03520" y="406908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52160" y="401421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repasse 02</a:t>
            </a:r>
            <a:endParaRPr lang="en-US" sz="920" dirty="0"/>
          </a:p>
        </p:txBody>
      </p:sp>
      <p:sp>
        <p:nvSpPr>
          <p:cNvPr id="24" name="Text 20"/>
          <p:cNvSpPr/>
          <p:nvPr/>
        </p:nvSpPr>
        <p:spPr>
          <a:xfrm>
            <a:off x="5852160" y="42702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publicado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 flipV="1">
            <a:off x="4453128" y="3200400"/>
            <a:ext cx="621792" cy="1042416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5074920" y="4956048"/>
            <a:ext cx="2359152" cy="786384"/>
          </a:xfrm>
          <a:prstGeom prst="roundRect">
            <a:avLst>
              <a:gd name="adj" fmla="val 13953"/>
            </a:avLst>
          </a:prstGeom>
          <a:solidFill>
            <a:srgbClr val="151F2E">
              <a:alpha val="96000"/>
            </a:srgbClr>
          </a:solidFill>
          <a:ln w="12700">
            <a:solidFill>
              <a:srgbClr val="26334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303520" y="5138928"/>
            <a:ext cx="384048" cy="384048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52160" y="508406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repasse 03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5852160" y="53400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publicado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4453128" y="4242816"/>
            <a:ext cx="621792" cy="110642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8001000" y="2743200"/>
            <a:ext cx="3529584" cy="2999232"/>
          </a:xfrm>
          <a:prstGeom prst="roundRect">
            <a:avLst>
              <a:gd name="adj" fmla="val 3659"/>
            </a:avLst>
          </a:prstGeom>
          <a:solidFill>
            <a:srgbClr val="0D171F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257032" y="2980944"/>
            <a:ext cx="1572768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257032" y="29900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 NO GRUPO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8247888" y="3493008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0B5532"/>
          </a:solidFill>
          <a:ln w="12700">
            <a:solidFill>
              <a:srgbClr val="137A49">
                <a:alpha val="6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394192" y="356616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“Já vendeu?”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8997696" y="4078224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1A252D"/>
          </a:solidFill>
          <a:ln w="12700">
            <a:solidFill>
              <a:srgbClr val="243342">
                <a:alpha val="60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144000" y="41513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“Esse Corolla ainda está disponível.”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8247888" y="4828032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0B5532"/>
          </a:solidFill>
          <a:ln w="12700">
            <a:solidFill>
              <a:srgbClr val="137A49">
                <a:alpha val="60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394192" y="490118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“Tem vídeo dele?”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8257032" y="5440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quando é mencionado ou quando alguém cita uma publicação anterior.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645920"/>
            <a:ext cx="4754880" cy="4754880"/>
          </a:xfrm>
          <a:prstGeom prst="ellipse">
            <a:avLst/>
          </a:prstGeom>
          <a:solidFill>
            <a:srgbClr val="22C55E">
              <a:alpha val="1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3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6" name="Shape 3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DE ANÚNCIO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261872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cadastro vira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 pronto para divulgar.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94360" y="224942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equipe pede pelo WhatsApp. O Gestor usa fotos, dados e identidade visual da loja para montar as peças.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" y="3136392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3035808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 estática com preço, FIPE, margem, GNV, leilão e formas de pagamento.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3803904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3703320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 vertical com fotos, características, estado do veículo e condições de compra.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" y="4471416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4370832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Identidade de cada cliente e ocultação automática de placa nos planos elegíveis.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5230368"/>
            <a:ext cx="3200400" cy="310896"/>
          </a:xfrm>
          <a:prstGeom prst="roundRect">
            <a:avLst>
              <a:gd name="adj" fmla="val 35294"/>
            </a:avLst>
          </a:prstGeom>
          <a:solidFill>
            <a:srgbClr val="84FF5A"/>
          </a:solidFill>
          <a:ln w="10160">
            <a:solidFill>
              <a:srgbClr val="84FF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5239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ESPERAR O DESIGNER PARA CADA CARRO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644384" y="658368"/>
            <a:ext cx="3291840" cy="5303520"/>
          </a:xfrm>
          <a:prstGeom prst="roundRect">
            <a:avLst>
              <a:gd name="adj" fmla="val 3333"/>
            </a:avLst>
          </a:prstGeom>
          <a:solidFill>
            <a:srgbClr val="080D12">
              <a:alpha val="96000"/>
            </a:srgbClr>
          </a:solidFill>
          <a:ln w="16510">
            <a:solidFill>
              <a:srgbClr val="F2B705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9" name="Image 1" descr="/tmp/corolla-cine-borda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6" y="1239989"/>
            <a:ext cx="3145536" cy="414027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994392" y="4023360"/>
            <a:ext cx="1572768" cy="1920240"/>
          </a:xfrm>
          <a:prstGeom prst="roundRect">
            <a:avLst>
              <a:gd name="adj" fmla="val 6977"/>
            </a:avLst>
          </a:prstGeom>
          <a:solidFill>
            <a:srgbClr val="080D12">
              <a:alpha val="96000"/>
            </a:srgbClr>
          </a:solidFill>
          <a:ln w="15240">
            <a:solidFill>
              <a:srgbClr val="22C55E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21" name="Image 2" descr="/home/naum/gestor-de-patio-site/material_grafico/remotion/public/source/demo-sedan-interi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712" y="4160520"/>
            <a:ext cx="1024128" cy="153619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195560" y="5559552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195560" y="55686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 9:16</a:t>
            </a:r>
            <a:endParaRPr lang="en-US" sz="620" dirty="0"/>
          </a:p>
        </p:txBody>
      </p:sp>
      <p:sp>
        <p:nvSpPr>
          <p:cNvPr id="24" name="Text 19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5" name="Shape 2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CICLO DO VEÍCULO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26187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entrada à venda,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informação acompanha o carro.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066544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atualização no estoque alimenta as experiências internas e públicas.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243584" y="2807208"/>
            <a:ext cx="640080" cy="640080"/>
          </a:xfrm>
          <a:prstGeom prst="ellipse">
            <a:avLst/>
          </a:prstGeom>
          <a:solidFill>
            <a:srgbClr val="151F2E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43584" y="2807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" y="373075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4944" y="40873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Placa, preço, KM e fotos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1920240" y="3127248"/>
            <a:ext cx="1682496" cy="0"/>
          </a:xfrm>
          <a:prstGeom prst="line">
            <a:avLst/>
          </a:prstGeom>
          <a:noFill/>
          <a:ln w="17780">
            <a:solidFill>
              <a:srgbClr val="22C55E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547872" y="2807208"/>
            <a:ext cx="640080" cy="640080"/>
          </a:xfrm>
          <a:prstGeom prst="ellipse">
            <a:avLst/>
          </a:prstGeom>
          <a:solidFill>
            <a:srgbClr val="151F2E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47872" y="2807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26080" y="373075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99232" y="40873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FIPE, detalhes e mídias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4224528" y="3127248"/>
            <a:ext cx="1682496" cy="0"/>
          </a:xfrm>
          <a:prstGeom prst="line">
            <a:avLst/>
          </a:prstGeom>
          <a:noFill/>
          <a:ln w="17780">
            <a:solidFill>
              <a:srgbClr val="22C55E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852160" y="2807208"/>
            <a:ext cx="640080" cy="640080"/>
          </a:xfrm>
          <a:prstGeom prst="ellipse">
            <a:avLst/>
          </a:prstGeom>
          <a:solidFill>
            <a:srgbClr val="151F2E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0" y="2807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230368" y="373075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DIVULGA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03520" y="40873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Site, WhatsApp e repasse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6528816" y="3127248"/>
            <a:ext cx="1682496" cy="0"/>
          </a:xfrm>
          <a:prstGeom prst="line">
            <a:avLst/>
          </a:prstGeom>
          <a:noFill/>
          <a:ln w="17780">
            <a:solidFill>
              <a:srgbClr val="22C55E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156448" y="2807208"/>
            <a:ext cx="640080" cy="640080"/>
          </a:xfrm>
          <a:prstGeom prst="ellipse">
            <a:avLst/>
          </a:prstGeom>
          <a:solidFill>
            <a:srgbClr val="151F2E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56448" y="2807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534656" y="373075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607808" y="40873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Sinal, troca e andamento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8833104" y="3127248"/>
            <a:ext cx="1682496" cy="0"/>
          </a:xfrm>
          <a:prstGeom prst="line">
            <a:avLst/>
          </a:prstGeom>
          <a:noFill/>
          <a:ln w="17780">
            <a:solidFill>
              <a:srgbClr val="22C55E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0460736" y="2807208"/>
            <a:ext cx="640080" cy="640080"/>
          </a:xfrm>
          <a:prstGeom prst="ellipse">
            <a:avLst/>
          </a:prstGeom>
          <a:solidFill>
            <a:srgbClr val="84FF5A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460736" y="2807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838944" y="373075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912096" y="40873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 em todos os canais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1143000" y="5074920"/>
            <a:ext cx="9912096" cy="768096"/>
          </a:xfrm>
          <a:prstGeom prst="roundRect">
            <a:avLst>
              <a:gd name="adj" fmla="val 14286"/>
            </a:avLst>
          </a:prstGeom>
          <a:solidFill>
            <a:srgbClr val="102019">
              <a:alpha val="96000"/>
            </a:srgbClr>
          </a:solidFill>
          <a:ln w="12700">
            <a:solidFill>
              <a:srgbClr val="22C55E">
                <a:alpha val="6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371600" y="5285232"/>
            <a:ext cx="945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informação muda uma vez e se atualiza no site, no atendimento público e nas publicações.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5" name="Shape 2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MUDANÇA NA ROTINA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261872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tarefas repetidas.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tempo para negociar.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08483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produto não muda o jeito de vender carros. Ele reduz o trabalho que atrasa a venda.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2788920"/>
            <a:ext cx="5285232" cy="2971800"/>
          </a:xfrm>
          <a:prstGeom prst="roundRect">
            <a:avLst>
              <a:gd name="adj" fmla="val 3692"/>
            </a:avLst>
          </a:prstGeom>
          <a:solidFill>
            <a:srgbClr val="10171F">
              <a:alpha val="96000"/>
            </a:srgbClr>
          </a:solidFill>
          <a:ln w="12700">
            <a:solidFill>
              <a:srgbClr val="364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3054096"/>
            <a:ext cx="749808" cy="310896"/>
          </a:xfrm>
          <a:prstGeom prst="roundRect">
            <a:avLst>
              <a:gd name="adj" fmla="val 35294"/>
            </a:avLst>
          </a:prstGeom>
          <a:solidFill>
            <a:srgbClr val="364152">
              <a:alpha val="42000"/>
            </a:srgbClr>
          </a:solidFill>
          <a:ln w="10160">
            <a:solidFill>
              <a:srgbClr val="364152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306324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932688" y="3739896"/>
            <a:ext cx="91440" cy="91440"/>
          </a:xfrm>
          <a:prstGeom prst="ellipse">
            <a:avLst/>
          </a:prstGeom>
          <a:solidFill>
            <a:srgbClr val="364152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3856" y="3639312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Consultar várias conversas para saber se o carro ainda está no pátio.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932688" y="4416552"/>
            <a:ext cx="91440" cy="91440"/>
          </a:xfrm>
          <a:prstGeom prst="ellipse">
            <a:avLst/>
          </a:prstGeom>
          <a:solidFill>
            <a:srgbClr val="364152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3856" y="4315968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Responder as mesmas perguntas e procurar fotos manualmente.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932688" y="5093208"/>
            <a:ext cx="91440" cy="91440"/>
          </a:xfrm>
          <a:prstGeom prst="ellipse">
            <a:avLst/>
          </a:prstGeom>
          <a:solidFill>
            <a:srgbClr val="364152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4992624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Refazer anúncio quando preço ou condição muda.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245352" y="2788920"/>
            <a:ext cx="5285232" cy="2971800"/>
          </a:xfrm>
          <a:prstGeom prst="roundRect">
            <a:avLst>
              <a:gd name="adj" fmla="val 3692"/>
            </a:avLst>
          </a:prstGeom>
          <a:solidFill>
            <a:srgbClr val="102019">
              <a:alpha val="96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19672" y="3054096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84FF5A"/>
          </a:solidFill>
          <a:ln w="10160">
            <a:solidFill>
              <a:srgbClr val="84FF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9672" y="30632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O GESTOR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519672" y="3739896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20840" y="3639312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Estoque consultável pela equipe e pelo cliente em tempo real.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6519672" y="4416552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0840" y="4315968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Fotos, vídeo e detalhes disponíveis no atendimento 24 horas.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6519672" y="5093208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20840" y="4992624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 e canais atualizados a partir do mesmo cadastro.</a:t>
            </a:r>
            <a:endParaRPr lang="en-US" sz="1120" dirty="0"/>
          </a:p>
        </p:txBody>
      </p:sp>
      <p:sp>
        <p:nvSpPr>
          <p:cNvPr id="27" name="Text 24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1920240"/>
            <a:ext cx="4114800" cy="4114800"/>
          </a:xfrm>
          <a:prstGeom prst="ellipse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3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6" name="Shape 3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RESPONSABILIDADE CLARA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261872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cuida do repetitivo.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vendedor cuida do negócio.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94360" y="2139696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assistente apresenta o estoque e prepara o atendimento; decisões comerciais continuam com a loja.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" y="2907792"/>
            <a:ext cx="5248656" cy="2761488"/>
          </a:xfrm>
          <a:prstGeom prst="roundRect">
            <a:avLst>
              <a:gd name="adj" fmla="val 3974"/>
            </a:avLst>
          </a:prstGeom>
          <a:solidFill>
            <a:srgbClr val="102019">
              <a:alpha val="96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41832" y="3182112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31912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ASSISTENTE RESOLVE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950976" y="3831336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3730752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Disponibilidade, preço anunciado e dados do cadastro.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950976" y="4453128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52144" y="435254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Envio de fotos, vídeo e características do veículo.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950976" y="5074920"/>
            <a:ext cx="91440" cy="91440"/>
          </a:xfrm>
          <a:prstGeom prst="ellipse">
            <a:avLst/>
          </a:prstGeom>
          <a:solidFill>
            <a:srgbClr val="84FF5A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52144" y="4974336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Cadastro, atualização, mídia e consultas operacionais.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6272784" y="2907792"/>
            <a:ext cx="5248656" cy="2761488"/>
          </a:xfrm>
          <a:prstGeom prst="roundRect">
            <a:avLst>
              <a:gd name="adj" fmla="val 3974"/>
            </a:avLst>
          </a:prstGeom>
          <a:solidFill>
            <a:srgbClr val="101820">
              <a:alpha val="96000"/>
            </a:srgbClr>
          </a:solidFill>
          <a:ln w="12700">
            <a:solidFill>
              <a:srgbClr val="36415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56248" y="3182112"/>
            <a:ext cx="1572768" cy="310896"/>
          </a:xfrm>
          <a:prstGeom prst="roundRect">
            <a:avLst>
              <a:gd name="adj" fmla="val 35294"/>
            </a:avLst>
          </a:prstGeom>
          <a:solidFill>
            <a:srgbClr val="364152">
              <a:alpha val="40000"/>
            </a:srgbClr>
          </a:solidFill>
          <a:ln w="10160">
            <a:solidFill>
              <a:srgbClr val="364152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56248" y="319125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EQUIPE CONFIRMA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565392" y="3831336"/>
            <a:ext cx="91440" cy="91440"/>
          </a:xfrm>
          <a:prstGeom prst="ellipse">
            <a:avLst/>
          </a:prstGeom>
          <a:solidFill>
            <a:srgbClr val="364152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3730752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Negociação de preço, avaliação de troca e financiamento.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6565392" y="4453128"/>
            <a:ext cx="91440" cy="91440"/>
          </a:xfrm>
          <a:prstGeom prst="ellipse">
            <a:avLst/>
          </a:prstGeom>
          <a:solidFill>
            <a:srgbClr val="364152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66560" y="435254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 mediante sinal e condições finais da compra.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565392" y="5074920"/>
            <a:ext cx="91440" cy="91440"/>
          </a:xfrm>
          <a:prstGeom prst="ellipse">
            <a:avLst/>
          </a:prstGeom>
          <a:solidFill>
            <a:srgbClr val="364152"/>
          </a:solidFill>
          <a:ln w="12700">
            <a:solidFill>
              <a:srgbClr val="0A0F14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66560" y="4974336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Inspeção presencial e confirmação do estado do veículo.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256032"/>
            <a:ext cx="393192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65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960120" y="4663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5" name="Shape 2"/>
          <p:cNvSpPr/>
          <p:nvPr/>
        </p:nvSpPr>
        <p:spPr>
          <a:xfrm>
            <a:off x="594360" y="1078992"/>
            <a:ext cx="219456" cy="0"/>
          </a:xfrm>
          <a:prstGeom prst="line">
            <a:avLst/>
          </a:prstGeom>
          <a:noFill/>
          <a:ln w="22860">
            <a:solidFill>
              <a:srgbClr val="84F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" y="987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261872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Comece no tamanho da </a:t>
            </a:r>
            <a:r>
              <a:rPr lang="en-US" sz="32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 operação.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4360" y="204825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plano acrescenta uma camada de automação ao anterior.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" y="2743200"/>
            <a:ext cx="1956816" cy="2944368"/>
          </a:xfrm>
          <a:prstGeom prst="roundRect">
            <a:avLst>
              <a:gd name="adj" fmla="val 560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05409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GARAGEM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576072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R$ 397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67512" y="4142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/mês</a:t>
            </a:r>
            <a:endParaRPr lang="en-US" sz="740" dirty="0"/>
          </a:p>
        </p:txBody>
      </p:sp>
      <p:sp>
        <p:nvSpPr>
          <p:cNvPr id="13" name="Text 10"/>
          <p:cNvSpPr/>
          <p:nvPr/>
        </p:nvSpPr>
        <p:spPr>
          <a:xfrm>
            <a:off x="603504" y="44714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R$ 697</a:t>
            </a:r>
            <a:endParaRPr lang="en-US" sz="770" dirty="0"/>
          </a:p>
        </p:txBody>
      </p:sp>
      <p:sp>
        <p:nvSpPr>
          <p:cNvPr id="14" name="Text 11"/>
          <p:cNvSpPr/>
          <p:nvPr/>
        </p:nvSpPr>
        <p:spPr>
          <a:xfrm>
            <a:off x="621792" y="47914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interna</a:t>
            </a:r>
            <a:endParaRPr lang="en-US" sz="770" dirty="0"/>
          </a:p>
        </p:txBody>
      </p:sp>
      <p:sp>
        <p:nvSpPr>
          <p:cNvPr id="15" name="Text 12"/>
          <p:cNvSpPr/>
          <p:nvPr/>
        </p:nvSpPr>
        <p:spPr>
          <a:xfrm>
            <a:off x="621792" y="50749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para o público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2798064" y="2743200"/>
            <a:ext cx="1956816" cy="2944368"/>
          </a:xfrm>
          <a:prstGeom prst="roundRect">
            <a:avLst>
              <a:gd name="adj" fmla="val 560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999232" y="305409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PÁTIO</a:t>
            </a:r>
            <a:endParaRPr lang="en-US" sz="860" dirty="0"/>
          </a:p>
        </p:txBody>
      </p:sp>
      <p:sp>
        <p:nvSpPr>
          <p:cNvPr id="18" name="Text 15"/>
          <p:cNvSpPr/>
          <p:nvPr/>
        </p:nvSpPr>
        <p:spPr>
          <a:xfrm>
            <a:off x="2935224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R$ 597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026664" y="4142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/mês</a:t>
            </a:r>
            <a:endParaRPr lang="en-US" sz="740" dirty="0"/>
          </a:p>
        </p:txBody>
      </p:sp>
      <p:sp>
        <p:nvSpPr>
          <p:cNvPr id="20" name="Text 17"/>
          <p:cNvSpPr/>
          <p:nvPr/>
        </p:nvSpPr>
        <p:spPr>
          <a:xfrm>
            <a:off x="2962656" y="44714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R$ 997</a:t>
            </a:r>
            <a:endParaRPr lang="en-US" sz="770" dirty="0"/>
          </a:p>
        </p:txBody>
      </p:sp>
      <p:sp>
        <p:nvSpPr>
          <p:cNvPr id="21" name="Text 18"/>
          <p:cNvSpPr/>
          <p:nvPr/>
        </p:nvSpPr>
        <p:spPr>
          <a:xfrm>
            <a:off x="2980944" y="47914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do Garagem</a:t>
            </a:r>
            <a:endParaRPr lang="en-US" sz="770" dirty="0"/>
          </a:p>
        </p:txBody>
      </p:sp>
      <p:sp>
        <p:nvSpPr>
          <p:cNvPr id="22" name="Text 19"/>
          <p:cNvSpPr/>
          <p:nvPr/>
        </p:nvSpPr>
        <p:spPr>
          <a:xfrm>
            <a:off x="2980944" y="50749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site sincronizado</a:t>
            </a:r>
            <a:endParaRPr lang="en-US" sz="770" dirty="0"/>
          </a:p>
        </p:txBody>
      </p:sp>
      <p:sp>
        <p:nvSpPr>
          <p:cNvPr id="23" name="Shape 20"/>
          <p:cNvSpPr/>
          <p:nvPr/>
        </p:nvSpPr>
        <p:spPr>
          <a:xfrm>
            <a:off x="5157216" y="2743200"/>
            <a:ext cx="1956816" cy="2944368"/>
          </a:xfrm>
          <a:prstGeom prst="roundRect">
            <a:avLst>
              <a:gd name="adj" fmla="val 5607"/>
            </a:avLst>
          </a:prstGeom>
          <a:solidFill>
            <a:srgbClr val="102019">
              <a:alpha val="96000"/>
            </a:srgbClr>
          </a:solidFill>
          <a:ln w="20320">
            <a:solidFill>
              <a:srgbClr val="84FF5A">
                <a:alpha val="92000"/>
              </a:srgbClr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504688" y="2907792"/>
            <a:ext cx="1261872" cy="310896"/>
          </a:xfrm>
          <a:prstGeom prst="roundRect">
            <a:avLst>
              <a:gd name="adj" fmla="val 35294"/>
            </a:avLst>
          </a:prstGeom>
          <a:solidFill>
            <a:srgbClr val="84FF5A"/>
          </a:solidFill>
          <a:ln w="10160">
            <a:solidFill>
              <a:srgbClr val="84FF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04688" y="291693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b="1" kern="0" spc="80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ESCOLHIDO</a:t>
            </a:r>
            <a:endParaRPr lang="en-US" sz="640" dirty="0"/>
          </a:p>
        </p:txBody>
      </p:sp>
      <p:sp>
        <p:nvSpPr>
          <p:cNvPr id="26" name="Text 23"/>
          <p:cNvSpPr/>
          <p:nvPr/>
        </p:nvSpPr>
        <p:spPr>
          <a:xfrm>
            <a:off x="5358384" y="3383280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REVENDA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5294376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R$ 897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385816" y="4142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/mês</a:t>
            </a:r>
            <a:endParaRPr lang="en-US" sz="740" dirty="0"/>
          </a:p>
        </p:txBody>
      </p:sp>
      <p:sp>
        <p:nvSpPr>
          <p:cNvPr id="29" name="Text 26"/>
          <p:cNvSpPr/>
          <p:nvPr/>
        </p:nvSpPr>
        <p:spPr>
          <a:xfrm>
            <a:off x="5321808" y="44714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R$ 1.497</a:t>
            </a:r>
            <a:endParaRPr lang="en-US" sz="770" dirty="0"/>
          </a:p>
        </p:txBody>
      </p:sp>
      <p:sp>
        <p:nvSpPr>
          <p:cNvPr id="30" name="Text 27"/>
          <p:cNvSpPr/>
          <p:nvPr/>
        </p:nvSpPr>
        <p:spPr>
          <a:xfrm>
            <a:off x="5340096" y="47914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do Pátio</a:t>
            </a:r>
            <a:endParaRPr lang="en-US" sz="770" dirty="0"/>
          </a:p>
        </p:txBody>
      </p:sp>
      <p:sp>
        <p:nvSpPr>
          <p:cNvPr id="31" name="Text 28"/>
          <p:cNvSpPr/>
          <p:nvPr/>
        </p:nvSpPr>
        <p:spPr>
          <a:xfrm>
            <a:off x="5340096" y="50749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anúncios nos grupos</a:t>
            </a:r>
            <a:endParaRPr lang="en-US" sz="770" dirty="0"/>
          </a:p>
        </p:txBody>
      </p:sp>
      <p:sp>
        <p:nvSpPr>
          <p:cNvPr id="32" name="Text 29"/>
          <p:cNvSpPr/>
          <p:nvPr/>
        </p:nvSpPr>
        <p:spPr>
          <a:xfrm>
            <a:off x="5340096" y="535838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artes e vídeos</a:t>
            </a:r>
            <a:endParaRPr lang="en-US" sz="770" dirty="0"/>
          </a:p>
        </p:txBody>
      </p:sp>
      <p:sp>
        <p:nvSpPr>
          <p:cNvPr id="33" name="Shape 30"/>
          <p:cNvSpPr/>
          <p:nvPr/>
        </p:nvSpPr>
        <p:spPr>
          <a:xfrm>
            <a:off x="7516368" y="2743200"/>
            <a:ext cx="1956816" cy="2944368"/>
          </a:xfrm>
          <a:prstGeom prst="roundRect">
            <a:avLst>
              <a:gd name="adj" fmla="val 560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717536" y="305409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FROTA</a:t>
            </a:r>
            <a:endParaRPr lang="en-US" sz="860" dirty="0"/>
          </a:p>
        </p:txBody>
      </p:sp>
      <p:sp>
        <p:nvSpPr>
          <p:cNvPr id="35" name="Text 32"/>
          <p:cNvSpPr/>
          <p:nvPr/>
        </p:nvSpPr>
        <p:spPr>
          <a:xfrm>
            <a:off x="7653528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R$ 997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7744968" y="4142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/mês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7680960" y="44714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R$ 1.997</a:t>
            </a:r>
            <a:endParaRPr lang="en-US" sz="770" dirty="0"/>
          </a:p>
        </p:txBody>
      </p:sp>
      <p:sp>
        <p:nvSpPr>
          <p:cNvPr id="38" name="Text 35"/>
          <p:cNvSpPr/>
          <p:nvPr/>
        </p:nvSpPr>
        <p:spPr>
          <a:xfrm>
            <a:off x="7699248" y="47914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do Revenda</a:t>
            </a:r>
            <a:endParaRPr lang="en-US" sz="770" dirty="0"/>
          </a:p>
        </p:txBody>
      </p:sp>
      <p:sp>
        <p:nvSpPr>
          <p:cNvPr id="39" name="Text 36"/>
          <p:cNvSpPr/>
          <p:nvPr/>
        </p:nvSpPr>
        <p:spPr>
          <a:xfrm>
            <a:off x="7699248" y="50749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ocultação de placa</a:t>
            </a:r>
            <a:endParaRPr lang="en-US" sz="770" dirty="0"/>
          </a:p>
        </p:txBody>
      </p:sp>
      <p:sp>
        <p:nvSpPr>
          <p:cNvPr id="40" name="Shape 37"/>
          <p:cNvSpPr/>
          <p:nvPr/>
        </p:nvSpPr>
        <p:spPr>
          <a:xfrm>
            <a:off x="9875520" y="2743200"/>
            <a:ext cx="1956816" cy="2944368"/>
          </a:xfrm>
          <a:prstGeom prst="roundRect">
            <a:avLst>
              <a:gd name="adj" fmla="val 560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263342"/>
            </a:solidFill>
            <a:prstDash val="solid"/>
          </a:ln>
          <a:effectLst>
            <a:outerShdw blurRad="17780" dist="508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10076688" y="305409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REDE</a:t>
            </a:r>
            <a:endParaRPr lang="en-US" sz="860" dirty="0"/>
          </a:p>
        </p:txBody>
      </p:sp>
      <p:sp>
        <p:nvSpPr>
          <p:cNvPr id="42" name="Text 39"/>
          <p:cNvSpPr/>
          <p:nvPr/>
        </p:nvSpPr>
        <p:spPr>
          <a:xfrm>
            <a:off x="10012680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104120" y="4142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 medida</a:t>
            </a:r>
            <a:endParaRPr lang="en-US" sz="740" dirty="0"/>
          </a:p>
        </p:txBody>
      </p:sp>
      <p:sp>
        <p:nvSpPr>
          <p:cNvPr id="44" name="Text 41"/>
          <p:cNvSpPr/>
          <p:nvPr/>
        </p:nvSpPr>
        <p:spPr>
          <a:xfrm>
            <a:off x="10040112" y="44714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Múltiplos pátios</a:t>
            </a:r>
            <a:endParaRPr lang="en-US" sz="770" dirty="0"/>
          </a:p>
        </p:txBody>
      </p:sp>
      <p:sp>
        <p:nvSpPr>
          <p:cNvPr id="45" name="Text 42"/>
          <p:cNvSpPr/>
          <p:nvPr/>
        </p:nvSpPr>
        <p:spPr>
          <a:xfrm>
            <a:off x="10058400" y="47914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do Frota</a:t>
            </a:r>
            <a:endParaRPr lang="en-US" sz="770" dirty="0"/>
          </a:p>
        </p:txBody>
      </p:sp>
      <p:sp>
        <p:nvSpPr>
          <p:cNvPr id="46" name="Text 43"/>
          <p:cNvSpPr/>
          <p:nvPr/>
        </p:nvSpPr>
        <p:spPr>
          <a:xfrm>
            <a:off x="10058400" y="50749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integração OLX</a:t>
            </a:r>
            <a:endParaRPr lang="en-US" sz="770" dirty="0"/>
          </a:p>
        </p:txBody>
      </p:sp>
      <p:sp>
        <p:nvSpPr>
          <p:cNvPr id="47" name="Text 44"/>
          <p:cNvSpPr/>
          <p:nvPr/>
        </p:nvSpPr>
        <p:spPr>
          <a:xfrm>
            <a:off x="658368" y="601675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planos incluem suporte 24h. Recursos e implantação são configurados para a operação de cada loja.</a:t>
            </a:r>
            <a:endParaRPr lang="en-US" sz="880" dirty="0"/>
          </a:p>
        </p:txBody>
      </p:sp>
      <p:sp>
        <p:nvSpPr>
          <p:cNvPr id="48" name="Text 45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5029200" cy="5029200"/>
          </a:xfrm>
          <a:prstGeom prst="ellipse">
            <a:avLst/>
          </a:prstGeom>
          <a:solidFill>
            <a:srgbClr val="22C55E">
              <a:alpha val="26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4114800"/>
            <a:ext cx="4023360" cy="4023360"/>
          </a:xfrm>
          <a:prstGeom prst="ellipse">
            <a:avLst/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4" name="Image 0" descr="/home/naum/gestor-de-patio-site/favicon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347472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35661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7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60120" y="55778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kern="0" spc="25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QUE VENDE</a:t>
            </a:r>
            <a:endParaRPr lang="en-US" sz="580" dirty="0"/>
          </a:p>
        </p:txBody>
      </p:sp>
      <p:sp>
        <p:nvSpPr>
          <p:cNvPr id="7" name="Shape 4"/>
          <p:cNvSpPr/>
          <p:nvPr/>
        </p:nvSpPr>
        <p:spPr>
          <a:xfrm>
            <a:off x="5010912" y="1261872"/>
            <a:ext cx="2157984" cy="310896"/>
          </a:xfrm>
          <a:prstGeom prst="roundRect">
            <a:avLst>
              <a:gd name="adj" fmla="val 35294"/>
            </a:avLst>
          </a:prstGeom>
          <a:solidFill>
            <a:srgbClr val="84FF5A"/>
          </a:solidFill>
          <a:ln w="10160">
            <a:solidFill>
              <a:srgbClr val="84FF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10912" y="127101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610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PASSO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15568" y="1975104"/>
            <a:ext cx="99669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Veja o produto funcionando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o estoque de uma loja.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975104" y="3456432"/>
            <a:ext cx="8247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demonstração, mostramos o cadastro no grupo, o catálogo vivo, as publicações de repasse e a criação de materiais.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30752" y="4590288"/>
            <a:ext cx="4736592" cy="658368"/>
          </a:xfrm>
          <a:prstGeom prst="roundRect">
            <a:avLst>
              <a:gd name="adj" fmla="val 13636"/>
            </a:avLst>
          </a:prstGeom>
          <a:solidFill>
            <a:srgbClr val="102019">
              <a:alpha val="96000"/>
            </a:srgbClr>
          </a:solidFill>
          <a:ln w="12700">
            <a:solidFill>
              <a:srgbClr val="22C55E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77640" y="4800600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 •  (81) 98951-8215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21608" y="5385816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4FF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gestordepatio.com.br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kern="0" spc="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Pátio e Catálogo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1301</Words>
  <Application>Microsoft Office PowerPoint</Application>
  <PresentationFormat>Widescreen</PresentationFormat>
  <Paragraphs>232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Gestor de Pátio e Catálogo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Gestor de Pátio e Catálogo — Automação que vende</dc:title>
  <dc:subject>Apresentação comercial do Gestor de Pátio e Catálogo</dc:subject>
  <dc:creator>Gestor de Pátio e Catálogo</dc:creator>
  <cp:lastModifiedBy>Naum P. V. de Matos</cp:lastModifiedBy>
  <cp:revision>8</cp:revision>
  <dcterms:created xsi:type="dcterms:W3CDTF">2026-09-02T13:07:57Z</dcterms:created>
  <dcterms:modified xsi:type="dcterms:W3CDTF">2026-09-02T13:53:44Z</dcterms:modified>
</cp:coreProperties>
</file>